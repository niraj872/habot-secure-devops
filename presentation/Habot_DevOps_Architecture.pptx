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 Secure Data Deployment &amp; Validation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Niraj Yadav</a:t>
            </a:r>
          </a:p>
          <a:p>
            <a:pPr>
              <a:spcAft>
                <a:spcPts val="1300"/>
              </a:spcAft>
              <a:defRPr sz="2000"/>
            </a:pPr>
            <a:r>
              <a:t>Junior Cloud &amp; DevOps Engineer</a:t>
            </a:r>
          </a:p>
          <a:p>
            <a:pPr>
              <a:spcAft>
                <a:spcPts val="1300"/>
              </a:spcAft>
              <a:defRPr sz="2000"/>
            </a:pPr>
            <a:r>
              <a:t>GCP • Terraform • Django REST •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Secure a staging workflow for student onboarding data.</a:t>
            </a:r>
          </a:p>
          <a:p>
            <a:pPr>
              <a:spcAft>
                <a:spcPts val="1300"/>
              </a:spcAft>
              <a:defRPr sz="2000"/>
            </a:pPr>
            <a:r>
              <a:t>Prevent insecure code and schema errors from reaching deployment.</a:t>
            </a:r>
          </a:p>
          <a:p>
            <a:pPr>
              <a:spcAft>
                <a:spcPts val="1300"/>
              </a:spcAft>
              <a:defRPr sz="2000"/>
            </a:pPr>
            <a:r>
              <a:t>Make validation deterministic and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Engineering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Secure GCP infrastructure</a:t>
            </a:r>
          </a:p>
          <a:p>
            <a:pPr>
              <a:spcAft>
                <a:spcPts val="1300"/>
              </a:spcAft>
              <a:defRPr sz="2000"/>
            </a:pPr>
            <a:r>
              <a:t>Poka-Yoke / Fail-Closed CI/CD</a:t>
            </a:r>
          </a:p>
          <a:p>
            <a:pPr>
              <a:spcAft>
                <a:spcPts val="1300"/>
              </a:spcAft>
              <a:defRPr sz="2000"/>
            </a:pPr>
            <a:r>
              <a:t>Schema and DCYN validation</a:t>
            </a:r>
          </a:p>
          <a:p>
            <a:pPr>
              <a:spcAft>
                <a:spcPts val="1300"/>
              </a:spcAft>
              <a:defRPr sz="2000"/>
            </a:pPr>
            <a:r>
              <a:t>Least-Privilege IAM and RLS</a:t>
            </a:r>
          </a:p>
          <a:p>
            <a:pPr>
              <a:spcAft>
                <a:spcPts val="1300"/>
              </a:spcAft>
              <a:defRPr sz="2000"/>
            </a:pPr>
            <a:r>
              <a:t>Documentation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Overview</a:t>
            </a:r>
          </a:p>
          <a:p>
            <a:r>
              <a:t>Developer → GitHub → mandatory gates → authenticated Terraform plan → protected deployment</a:t>
            </a:r>
          </a:p>
          <a:p>
            <a:r>
              <a:t>Django REST → strict serializer → binary Yes/No logic → accepted or rejected event</a:t>
            </a:r>
          </a:p>
          <a:p>
            <a:r>
              <a:t>Encrypted D0 storage + Pub/Sub → BigQuery streaming sink → D1 enforced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Developer → GitHub → CI gates → Terraform plan</a:t>
            </a:r>
          </a:p>
          <a:p>
            <a:pPr>
              <a:spcAft>
                <a:spcPts val="1300"/>
              </a:spcAft>
              <a:defRPr sz="2000"/>
            </a:pPr>
            <a:r>
              <a:t>Django REST → Serializer → DCYN → controlled data flow</a:t>
            </a:r>
          </a:p>
          <a:p>
            <a:pPr>
              <a:spcAft>
                <a:spcPts val="1300"/>
              </a:spcAft>
              <a:defRPr sz="2000"/>
            </a:pPr>
            <a:r>
              <a:t>Encrypted D0 storage layer
Onboarding event → Pub/Sub → schema-conformant BigQuery streaming sink
D1 enforced table → table IAM + row-level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Terraform / GCP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D0 Raw Landing GCS bucket</a:t>
            </a:r>
          </a:p>
          <a:p>
            <a:pPr>
              <a:spcAft>
                <a:spcPts val="1300"/>
              </a:spcAft>
              <a:defRPr sz="2000"/>
            </a:pPr>
            <a:r>
              <a:t>D1 Staged/Enforced BigQuery dataset</a:t>
            </a:r>
          </a:p>
          <a:p>
            <a:pPr>
              <a:spcAft>
                <a:spcPts val="1300"/>
              </a:spcAft>
              <a:defRPr sz="2000"/>
            </a:pPr>
            <a:r>
              <a:t>Cloud KMS encryption</a:t>
            </a:r>
          </a:p>
          <a:p>
            <a:pPr>
              <a:spcAft>
                <a:spcPts val="1300"/>
              </a:spcAft>
              <a:defRPr sz="2000"/>
            </a:pPr>
            <a:r>
              <a:t>Explicit schemas</a:t>
            </a:r>
          </a:p>
          <a:p>
            <a:pPr>
              <a:spcAft>
                <a:spcPts val="1300"/>
              </a:spcAft>
              <a:defRPr sz="2000"/>
            </a:pPr>
            <a:r>
              <a:t>Versioning and lifecycle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D0 Raw Landing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Uniform bucket-level access</a:t>
            </a:r>
          </a:p>
          <a:p>
            <a:pPr>
              <a:spcAft>
                <a:spcPts val="1300"/>
              </a:spcAft>
              <a:defRPr sz="2000"/>
            </a:pPr>
            <a:r>
              <a:t>Public access prevention</a:t>
            </a:r>
          </a:p>
          <a:p>
            <a:pPr>
              <a:spcAft>
                <a:spcPts val="1300"/>
              </a:spcAft>
              <a:defRPr sz="2000"/>
            </a:pPr>
            <a:r>
              <a:t>Customer-managed Cloud KMS key</a:t>
            </a:r>
          </a:p>
          <a:p>
            <a:pPr>
              <a:spcAft>
                <a:spcPts val="1300"/>
              </a:spcAft>
              <a:defRPr sz="2000"/>
            </a:pPr>
            <a:r>
              <a:t>Versioning enabled</a:t>
            </a:r>
          </a:p>
          <a:p>
            <a:pPr>
              <a:spcAft>
                <a:spcPts val="1300"/>
              </a:spcAft>
              <a:defRPr sz="2000"/>
            </a:pPr>
            <a:r>
              <a:t>Object lifecycle rule</a:t>
            </a:r>
          </a:p>
          <a:p>
            <a:pPr>
              <a:spcAft>
                <a:spcPts val="1300"/>
              </a:spcAft>
              <a:defRPr sz="2000"/>
            </a:pPr>
            <a:r>
              <a:t>Conditional workload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D1 Staged/Enforced + 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Explicit student onboarding schema</a:t>
            </a:r>
          </a:p>
          <a:p>
            <a:pPr>
              <a:spcAft>
                <a:spcPts val="1300"/>
              </a:spcAft>
              <a:defRPr sz="2000"/>
            </a:pPr>
            <a:r>
              <a:t>Analytics data viewer permissions</a:t>
            </a:r>
          </a:p>
          <a:p>
            <a:pPr>
              <a:spcAft>
                <a:spcPts val="1300"/>
              </a:spcAft>
              <a:defRPr sz="2000"/>
            </a:pPr>
            <a:r>
              <a:t>Row access policy by data_region</a:t>
            </a:r>
          </a:p>
          <a:p>
            <a:pPr>
              <a:spcAft>
                <a:spcPts val="1300"/>
              </a:spcAft>
              <a:defRPr sz="2000"/>
            </a:pPr>
            <a:r>
              <a:t>Demonstrates data minimization at query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IAM +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Separate CI/CD, pipeline, backend and analytics identities</a:t>
            </a:r>
          </a:p>
          <a:p>
            <a:pPr>
              <a:spcAft>
                <a:spcPts val="1300"/>
              </a:spcAft>
              <a:defRPr sz="2000"/>
            </a:pPr>
            <a:r>
              <a:t>Scoped storage permissions</a:t>
            </a:r>
          </a:p>
          <a:p>
            <a:pPr>
              <a:spcAft>
                <a:spcPts val="1300"/>
              </a:spcAft>
              <a:defRPr sz="2000"/>
            </a:pPr>
            <a:r>
              <a:t>Dataset/table-specific BigQuery permissions</a:t>
            </a:r>
          </a:p>
          <a:p>
            <a:pPr>
              <a:spcAft>
                <a:spcPts val="1300"/>
              </a:spcAft>
              <a:defRPr sz="2000"/>
            </a:pPr>
            <a:r>
              <a:t>No unnecessary Owner/Editor grants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CI/CD Pipeline</a:t>
            </a:r>
          </a:p>
          <a:p>
            <a:r>
              <a:t>Checkout → formatting → linting → Terraform validation → secret scan → IaC security scan → tests → authenticated Terraform plan</a:t>
            </a:r>
          </a:p>
          <a:p>
            <a:r>
              <a:t>Missing cloud configuration fails the gate; there is no successful skip path.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Checkout → Python format/lint → Terraform fmt/validate</a:t>
            </a:r>
          </a:p>
          <a:p>
            <a:pPr>
              <a:spcAft>
                <a:spcPts val="1300"/>
              </a:spcAft>
              <a:defRPr sz="2000"/>
            </a:pPr>
            <a:r>
              <a:t>→ Gitleaks → Trivy → tests → Terraform plan</a:t>
            </a:r>
          </a:p>
          <a:p>
            <a:pPr>
              <a:spcAft>
                <a:spcPts val="1300"/>
              </a:spcAft>
              <a:defRPr sz="2000"/>
            </a:pPr>
            <a:r>
              <a:t>Every gate is 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Poka-Yoke / Fail-Closed</a:t>
            </a:r>
          </a:p>
          <a:p>
            <a:r>
              <a:t>Invalid state cannot progress.</a:t>
            </a:r>
          </a:p>
          <a:p>
            <a:r>
              <a:t>Gate failure stops progression.</a:t>
            </a:r>
          </a:p>
          <a:p>
            <a:r>
              <a:t>Cloud plan requires successful gates plus authenticated configuration.</a:t>
            </a:r>
          </a:p>
          <a:p>
            <a:r>
              <a:t>Deployment repeats the gates, requires explicit approval, then applies only the generated plan.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Invalid state cannot progress</a:t>
            </a:r>
          </a:p>
          <a:p>
            <a:pPr>
              <a:spcAft>
                <a:spcPts val="1300"/>
              </a:spcAft>
              <a:defRPr sz="2000"/>
            </a:pPr>
            <a:r>
              <a:t>Gate failure stops the job</a:t>
            </a:r>
          </a:p>
          <a:p>
            <a:pPr>
              <a:spcAft>
                <a:spcPts val="1300"/>
              </a:spcAft>
              <a:defRPr sz="2000"/>
            </a:pPr>
            <a:r>
              <a:t>Dependent plan job requires success</a:t>
            </a:r>
          </a:p>
          <a:p>
            <a:pPr>
              <a:spcAft>
                <a:spcPts val="1300"/>
              </a:spcAft>
              <a:defRPr sz="2000"/>
            </a:pPr>
            <a:r>
              <a:t>Principle: FAILURE → STOP → NO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Secret Detection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Clean commit: gates pass</a:t>
            </a:r>
          </a:p>
          <a:p>
            <a:pPr>
              <a:spcAft>
                <a:spcPts val="1300"/>
              </a:spcAft>
              <a:defRPr sz="2000"/>
            </a:pPr>
            <a:r>
              <a:t>Dummy hardcoded credential: Gitleaks detects it</a:t>
            </a:r>
          </a:p>
          <a:p>
            <a:pPr>
              <a:spcAft>
                <a:spcPts val="1300"/>
              </a:spcAft>
              <a:defRPr sz="2000"/>
            </a:pPr>
            <a:r>
              <a:t>Security job fails</a:t>
            </a:r>
          </a:p>
          <a:p>
            <a:pPr>
              <a:spcAft>
                <a:spcPts val="1300"/>
              </a:spcAft>
              <a:defRPr sz="2000"/>
            </a:pPr>
            <a:r>
              <a:t>Final plan/deployment stage is blocked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Django REST + DCYN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DRF serializer enforces exact field rules</a:t>
            </a:r>
          </a:p>
          <a:p>
            <a:pPr>
              <a:spcAft>
                <a:spcPts val="1300"/>
              </a:spcAft>
              <a:defRPr sz="2000"/>
            </a:pPr>
            <a:r>
              <a:t>Strict Boolean inputs map to YES/NO</a:t>
            </a:r>
          </a:p>
          <a:p>
            <a:pPr>
              <a:spcAft>
                <a:spcPts val="1300"/>
              </a:spcAft>
              <a:defRPr sz="2000"/>
            </a:pPr>
            <a:r>
              <a:t>Consent must be true</a:t>
            </a:r>
          </a:p>
          <a:p>
            <a:pPr>
              <a:spcAft>
                <a:spcPts val="1300"/>
              </a:spcAft>
              <a:defRPr sz="2000"/>
            </a:pPr>
            <a:r>
              <a:t>Deterministic ACCEPT/REJECT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Schema Mapping</a:t>
            </a:r>
          </a:p>
          <a:p>
            <a:r>
              <a:t>JSON Schema mirrors Django validation</a:t>
            </a:r>
          </a:p>
          <a:p>
            <a:r>
              <a:t>Excel Field Dictionary</a:t>
            </a:r>
          </a:p>
          <a:p>
            <a:r>
              <a:t>Binary Yes No Mapping</a:t>
            </a:r>
          </a:p>
          <a:p>
            <a:r>
              <a:t>Validation Test Cases</a:t>
            </a:r>
          </a:p>
          <a:p>
            <a:r>
              <a:t>Wrap Text enabled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JSON Schema mirrors Django validation</a:t>
            </a:r>
          </a:p>
          <a:p>
            <a:pPr>
              <a:spcAft>
                <a:spcPts val="1300"/>
              </a:spcAft>
              <a:defRPr sz="2000"/>
            </a:pPr>
            <a:r>
              <a:t>Excel Field Dictionary</a:t>
            </a:r>
          </a:p>
          <a:p>
            <a:pPr>
              <a:spcAft>
                <a:spcPts val="1300"/>
              </a:spcAft>
              <a:defRPr sz="2000"/>
            </a:pPr>
            <a:r>
              <a:t>DCYN Mapping</a:t>
            </a:r>
          </a:p>
          <a:p>
            <a:pPr>
              <a:spcAft>
                <a:spcPts val="1300"/>
              </a:spcAft>
              <a:defRPr sz="2000"/>
            </a:pPr>
            <a:r>
              <a:t>Validation Test Cases</a:t>
            </a:r>
          </a:p>
          <a:p>
            <a:pPr>
              <a:spcAft>
                <a:spcPts val="1300"/>
              </a:spcAft>
              <a:defRPr sz="2000"/>
            </a:pPr>
            <a:r>
              <a:t>Wrap Text enabled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Testing &amp; Failure Scenarios</a:t>
            </a:r>
          </a:p>
          <a:p>
            <a:r>
              <a:t>Valid and invalid API payloads</a:t>
            </a:r>
          </a:p>
          <a:p>
            <a:r>
              <a:t>Schema validation</a:t>
            </a:r>
          </a:p>
          <a:p>
            <a:r>
              <a:t>Terraform format and validation</a:t>
            </a:r>
          </a:p>
          <a:p>
            <a:r>
              <a:t>Security gates</a:t>
            </a:r>
          </a:p>
          <a:p>
            <a:r>
              <a:t>IAM and row-level security denial paths</a:t>
            </a:r>
          </a:p>
          <a:p>
            <a:r>
              <a:t>Streaming sink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Valid and invalid API payloads</a:t>
            </a:r>
          </a:p>
          <a:p>
            <a:pPr>
              <a:spcAft>
                <a:spcPts val="1300"/>
              </a:spcAft>
              <a:defRPr sz="2000"/>
            </a:pPr>
            <a:r>
              <a:t>Schema validation</a:t>
            </a:r>
          </a:p>
          <a:p>
            <a:pPr>
              <a:spcAft>
                <a:spcPts val="1300"/>
              </a:spcAft>
              <a:defRPr sz="2000"/>
            </a:pPr>
            <a:r>
              <a:t>Terraform format/validate</a:t>
            </a:r>
          </a:p>
          <a:p>
            <a:pPr>
              <a:spcAft>
                <a:spcPts val="1300"/>
              </a:spcAft>
              <a:defRPr sz="2000"/>
            </a:pPr>
            <a:r>
              <a:t>Security gates</a:t>
            </a:r>
          </a:p>
          <a:p>
            <a:pPr>
              <a:spcAft>
                <a:spcPts val="1300"/>
              </a:spcAft>
              <a:defRPr sz="2000"/>
            </a:pPr>
            <a:r>
              <a:t>IAM and RLS denial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Secure infrastructure by default</a:t>
            </a:r>
          </a:p>
          <a:p>
            <a:pPr>
              <a:spcAft>
                <a:spcPts val="1300"/>
              </a:spcAft>
              <a:defRPr sz="2000"/>
            </a:pPr>
            <a:r>
              <a:t>Automated mistake-proofing</a:t>
            </a:r>
          </a:p>
          <a:p>
            <a:pPr>
              <a:spcAft>
                <a:spcPts val="1300"/>
              </a:spcAft>
              <a:defRPr sz="2000"/>
            </a:pPr>
            <a:r>
              <a:t>Deterministic data validation</a:t>
            </a:r>
          </a:p>
          <a:p>
            <a:pPr>
              <a:spcAft>
                <a:spcPts val="1300"/>
              </a:spcAft>
              <a:defRPr sz="2000"/>
            </a:pPr>
            <a:r>
              <a:t>Least privilege and row-level controls</a:t>
            </a:r>
          </a:p>
          <a:p>
            <a:pPr>
              <a:spcAft>
                <a:spcPts val="1300"/>
              </a:spcAft>
              <a:defRPr sz="2000"/>
            </a:pPr>
            <a:r>
              <a:t>Evidence-driven interview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